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486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4048" y="1710928"/>
            <a:ext cx="6115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Retirement Trust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057205" y="2396728"/>
            <a:ext cx="5029441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7"/>
              </a:lnSpc>
              <a:buNone/>
            </a:pPr>
            <a:r>
              <a:rPr lang="en-US" sz="24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Your Enterprise AI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52621" y="3192512"/>
            <a:ext cx="36387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Technical Architecture Point of View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4167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ART's Strategic AI Vision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7924800" cy="11296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8650" y="1028700"/>
            <a:ext cx="0" cy="1129605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1219200"/>
            <a:ext cx="76558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Understand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539180"/>
            <a:ext cx="76558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has established centralized AI governance for consistent member experience, unified compliance, and coordinated innovation.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09600" y="2310705"/>
            <a:ext cx="7924800" cy="1882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10705"/>
            <a:ext cx="0" cy="188208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8200" y="2501205"/>
            <a:ext cx="76558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Objectives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8200" y="2821186"/>
            <a:ext cx="75057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AI serving multiple business units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reusable infrastructure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complete audit trails for APRA/ASIC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rapidly from proven use cases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57418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Intelligence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990600"/>
            <a:ext cx="7924800" cy="775097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1050" y="1162050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Live Agent Assist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1050" y="1421011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transcript analysis. Member 360 in &lt;2 seconds. Sentiment detection. 25% faster handling.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879997"/>
            <a:ext cx="7924800" cy="775097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050" y="2051447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Real-Time Compliance Monitoring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050" y="2310408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utterance checked. Instant supervisor alerts. 80% reduction in violations. Complete audit trail.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" y="2769394"/>
            <a:ext cx="7924800" cy="775097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1050" y="2940844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Post-Call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050" y="3199805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case summaries. Document delivery. Task creation. 35% less admin time.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658791"/>
            <a:ext cx="7924800" cy="775097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1050" y="3830241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Knowledge Base Auto-Improvement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050" y="4089202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detection from call patterns. Draft content generation. Continuous optimization.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65773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Agentic Knowledge Platform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7924800" cy="126474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1047750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129540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200" y="1638300"/>
            <a:ext cx="76169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ART employee or system can ask questions spanning organizational knowledge and receive accurate, governed, auditable answers.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2522041"/>
            <a:ext cx="808329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Multi-BU Deployment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2880122"/>
            <a:ext cx="79248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Services Agent: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 assist, email automation, chatbot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Research Agent: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 analysis, portfolio insights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Audit automation, regulatory search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Agent: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Policy Q&amp;A, onboarding automation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4289822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1800"/>
              </a:spcBef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Economics: Build once ($600K), deploy multiple agents ($50-100K each) vs separate systems ($500K+ each)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4313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14400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3888" y="914400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1525" y="1047750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71525" y="1228725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| Dashboards | APIs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09600" y="1565821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3888" y="1565821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1525" y="1699171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LAYER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71525" y="1880146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 | Vector Search | Model Serving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09600" y="2217241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3888" y="2217241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1525" y="2350591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(Unity Catalog)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71525" y="2531566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| Lineage | Audit Logs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09600" y="2868662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3888" y="2868662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1525" y="3002012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71525" y="3182987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DLT | Structured Streaming | Batch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09600" y="3520083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3888" y="3520083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1525" y="3653433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71525" y="3834408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| Online Tables | Vector Indexes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9600" y="4171504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23888" y="4171504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1525" y="4304854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71525" y="4485829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Zerobus | Lakeflow Connect | Auto Loader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 Governance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876300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8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control enabling your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318171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489621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050" y="1748582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permissions (row/column level). Investment sees investment data only. Enforced automatically.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9600" y="2207568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1050" y="2379018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1050" y="2637979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 access logged. Every AI inference tracked. Complete trail for regulatory reporting.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09600" y="3096964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1050" y="3268414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050" y="3527375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source to consumption. Critical for impact analysis and compliance.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986361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1050" y="4157811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Attribution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050" y="4416772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usage by BU. Chargeback model for shared infrastructure.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42165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Ingestion Options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14400"/>
            <a:ext cx="7924800" cy="149721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1050" y="1085850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Azure Event Hubs </a:t>
            </a: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1050" y="1363861"/>
            <a:ext cx="758190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10-30 sec latency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at enterprise scale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~$20K/year infrastructure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544961"/>
            <a:ext cx="7924800" cy="149721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050" y="2716411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Zerobus Direct </a:t>
            </a: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050" y="2994422"/>
            <a:ext cx="758190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 latency (6x faster)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 cost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expected 2026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4232672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0"/>
              </a:spcBef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Event Hubs, evaluate Zerobus in parallel, migrate once GA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8650" y="1028700"/>
            <a:ext cx="0" cy="775097"/>
          </a:xfrm>
          <a:prstGeom prst="line">
            <a:avLst/>
          </a:prstGeom>
          <a:noFill/>
          <a:ln w="381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9150" y="1200150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Platform Foundation (Months 1-3)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1459111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 structure. Delta Lake foundation. Vector Search. Initial governance.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9600" y="1918097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1918097"/>
            <a:ext cx="0" cy="775097"/>
          </a:xfrm>
          <a:prstGeom prst="line">
            <a:avLst/>
          </a:prstGeom>
          <a:noFill/>
          <a:ln w="381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9150" y="2089547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Call Center Deployment (Months 3-6)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9150" y="2348508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agent assist, compliance monitoring, automation. 200+ agents. Validate at scale. $2-4M value.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2807494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807494"/>
            <a:ext cx="0" cy="775097"/>
          </a:xfrm>
          <a:prstGeom prst="line">
            <a:avLst/>
          </a:prstGeom>
          <a:noFill/>
          <a:ln w="381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9150" y="2978944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Enterprise Knowledge Agent (Months 6-9)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150" y="3237905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Investment, Compliance, HR agents. Multi-BU model validated. 70% infrastructure reuse.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3696891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8650" y="3696891"/>
            <a:ext cx="0" cy="775097"/>
          </a:xfrm>
          <a:prstGeom prst="line">
            <a:avLst/>
          </a:prstGeom>
          <a:noFill/>
          <a:ln w="381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9150" y="3868341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Scale &amp; Optimize (Months 10-12)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9150" y="4127302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enterprise coverage. Advanced analytics. Self-service capabilities. $10M+ annual value.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43233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&amp; Investment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1461939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(3 Years)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949500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4850" y="2044750"/>
            <a:ext cx="738985" cy="159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1: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$1.6M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2566690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2661940"/>
            <a:ext cx="10501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2-3: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$400K/yr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3183880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4850" y="3279130"/>
            <a:ext cx="6652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$2.4M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05350" y="838200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(Annual)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5350" y="1325761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0600" y="1421011"/>
            <a:ext cx="11986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Services: $4M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5350" y="1942951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2038201"/>
            <a:ext cx="920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Investments: $3M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5350" y="2560141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0600" y="2655391"/>
            <a:ext cx="9071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$2M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5350" y="3177332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600" y="3272582"/>
            <a:ext cx="9039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+ HR: $2.5M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5350" y="3794522"/>
            <a:ext cx="3829050" cy="363736"/>
          </a:xfrm>
          <a:prstGeom prst="rect">
            <a:avLst/>
          </a:prstGeom>
          <a:solidFill>
            <a:srgbClr val="FF36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0600" y="3889772"/>
            <a:ext cx="9383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$11.5M/yr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0352" y="4405908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500"/>
              </a:spcBef>
              <a:buNone/>
            </a:pPr>
            <a:r>
              <a:rPr lang="en-US" sz="135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1,150% | Payback: 2.5 months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914400"/>
            <a:ext cx="7924800" cy="7618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8650" y="914400"/>
            <a:ext cx="0" cy="761851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9150" y="1085850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1-2: 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1344811"/>
            <a:ext cx="76946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 integration. Architecture design. Data access. Governance.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1790551"/>
            <a:ext cx="7924800" cy="7618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1790551"/>
            <a:ext cx="0" cy="761851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9150" y="1962001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3-4: POV Environment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9150" y="2220962"/>
            <a:ext cx="76946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workspace. Configure ingestion. Set up Unity Catalog.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666702"/>
            <a:ext cx="7924800" cy="7618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666702"/>
            <a:ext cx="0" cy="761851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9150" y="2838152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5-8: Build Pilot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150" y="3097113"/>
            <a:ext cx="76946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pipeline. Build Agent Framework. Train 10 pilots.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600" y="3542854"/>
            <a:ext cx="7924800" cy="7618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8650" y="3542854"/>
            <a:ext cx="0" cy="761851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9150" y="3714304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9-10: Measure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9150" y="3973264"/>
            <a:ext cx="76946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results. Calculate ROI. Plan production.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671</Words>
  <Application>Microsoft Macintosh PowerPoint</Application>
  <PresentationFormat>On-screen Show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Enterprise AI Strategy</dc:title>
  <dc:subject>Technical Architecture Point of View</dc:subject>
  <dc:creator>Databricks Solutions Architecture</dc:creator>
  <cp:lastModifiedBy>Pravin Varma</cp:lastModifiedBy>
  <cp:revision>2</cp:revision>
  <dcterms:created xsi:type="dcterms:W3CDTF">2025-11-10T02:42:10Z</dcterms:created>
  <dcterms:modified xsi:type="dcterms:W3CDTF">2025-11-10T04:14:06Z</dcterms:modified>
</cp:coreProperties>
</file>