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0" r:id="rId6"/>
    <p:sldId id="271" r:id="rId7"/>
    <p:sldId id="260" r:id="rId8"/>
    <p:sldId id="261" r:id="rId9"/>
    <p:sldId id="262" r:id="rId10"/>
    <p:sldId id="263" r:id="rId11"/>
    <p:sldId id="265" r:id="rId12"/>
    <p:sldId id="272" r:id="rId13"/>
    <p:sldId id="268" r:id="rId14"/>
    <p:sldId id="264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3486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08ECF-956B-4053-06D9-63B47842D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9F367A-1EF0-9C70-ACA6-FB7A9BE56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68281-F5AE-5B61-4E4B-C3FC21627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61E5A-965D-0FAC-9E58-A211921076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126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4048" y="1710928"/>
            <a:ext cx="61157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Retirement Trust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057205" y="2396728"/>
            <a:ext cx="5029441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67"/>
              </a:lnSpc>
              <a:buNone/>
            </a:pPr>
            <a:r>
              <a:rPr lang="en-US" sz="24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Enabling Your Enterprise AI Strategy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52621" y="3192512"/>
            <a:ext cx="36387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6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Technical Architecture Point of View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4167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ART's Strategic AI Vision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7924800" cy="112960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28650" y="1028700"/>
            <a:ext cx="0" cy="1129605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8200" y="1219200"/>
            <a:ext cx="765581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Understand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8200" y="1539180"/>
            <a:ext cx="765581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has established centralized AI governance for consistent member experience, unified compliance, and coordinated innovation.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09600" y="2310705"/>
            <a:ext cx="7924800" cy="1882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8650" y="2310705"/>
            <a:ext cx="0" cy="1882080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8200" y="2501205"/>
            <a:ext cx="765581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Objectives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38200" y="2821186"/>
            <a:ext cx="750570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AI serving multiple business units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reusable infrastructure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complete audit trails for APRA/ASIC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rapidly from proven use cases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57418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Center Intelligence Use Cases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990600"/>
            <a:ext cx="7924800" cy="775097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1050" y="1162050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Live Agent Assist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1050" y="1421011"/>
            <a:ext cx="77335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transcript analysis. Member 360 in &lt;2 seconds. Sentiment detection. 25% faster handling.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09600" y="1879997"/>
            <a:ext cx="7924800" cy="775097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1050" y="2051447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Real-Time Compliance Monitoring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1050" y="2310408"/>
            <a:ext cx="77335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utterance checked. Instant supervisor alerts. 80% reduction in violations. Complete audit trail.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09600" y="2769394"/>
            <a:ext cx="7924800" cy="775097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1050" y="2940844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Automated Post-Call Actions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1050" y="3199805"/>
            <a:ext cx="77335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case summaries. Document delivery. Task creation. 35% less admin time.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9600" y="3658791"/>
            <a:ext cx="7924800" cy="775097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1050" y="3830241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Knowledge Base Auto-Improvement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1050" y="4089202"/>
            <a:ext cx="77335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detection from call patterns. Draft content generation. Continuous optimization.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65773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Agentic Knowledge Platform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7924800" cy="126474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09600" y="1047750"/>
            <a:ext cx="7924800" cy="0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8200" y="1295400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8200" y="1638300"/>
            <a:ext cx="761695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ART employee or system can ask questions spanning organizational knowledge and receive accurate, governed, auditable answers.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2522041"/>
            <a:ext cx="808329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Multi-BU Deployment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2880122"/>
            <a:ext cx="792480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Services Agent: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assist, email automation, chatbot</a:t>
            </a:r>
            <a:endParaRPr lang="en-US" sz="120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Research Agent: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analysis, portfolio insights</a:t>
            </a:r>
            <a:endParaRPr lang="en-US" sz="120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Agent: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automation, regulatory search</a:t>
            </a:r>
            <a:endParaRPr lang="en-US" sz="120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Agent: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Q&amp;A, onboarding automation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4289822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1800"/>
              </a:spcBef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Economics: Build once ($600K), deploy multiple agents ($50-100K each) vs separate systems ($500K+ each)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B7C63-38DD-3D7D-727C-9C537E64E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F9888E-8526-25F5-60A7-F993FFF90168}"/>
              </a:ext>
            </a:extLst>
          </p:cNvPr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>
                <a:solidFill>
                  <a:srgbClr val="003366"/>
                </a:solidFill>
              </a:defRPr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Federated Multi-Agent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D94EA3-15A4-EDE6-BE9C-AD977770E7ED}"/>
              </a:ext>
            </a:extLst>
          </p:cNvPr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i="1">
                <a:solidFill>
                  <a:srgbClr val="444444"/>
                </a:solidFill>
              </a:defRPr>
            </a:pP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the Platform Works - Technical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11B32E-B27E-6287-AA9F-9E40470570CA}"/>
              </a:ext>
            </a:extLst>
          </p:cNvPr>
          <p:cNvSpPr txBox="1"/>
          <p:nvPr/>
        </p:nvSpPr>
        <p:spPr>
          <a:xfrm>
            <a:off x="457200" y="1371600"/>
            <a:ext cx="822960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600" b="1">
                <a:solidFill>
                  <a:srgbClr val="0078D4"/>
                </a:solidFill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 Foundation (The Hub):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100"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Unity Catalog Functions Library: 50-100+ reusable tools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100"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 tools: get_member_360,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search_knowledge_base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check_compliance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trigger_workflow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100"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Single Vector Search index spanning all organizational knowledge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100"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Unified Model Serving infrastructure (Claude, Llama)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100"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Central governance and audit framework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600" b="1">
                <a:solidFill>
                  <a:srgbClr val="0078D4"/>
                </a:solidFill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BU-Specific Agents (The Spokes):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100"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business unit deploys specialized agents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100"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Agents inherit from shared base configuration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100"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Access authorized subset of tools via Unity Catalog permissions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100"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leverage same foundational infrastructure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600" b="1">
                <a:solidFill>
                  <a:srgbClr val="0078D4"/>
                </a:solidFill>
              </a:defRPr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Advantages of the 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Approach: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100"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Member Services builds 18 UC Functions → Investment reuses 12, adds 6 → Compliance reuses 14, adds 4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C00000"/>
                </a:solidFill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new agent costs 70% less because infrastructure exists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i="1">
                <a:solidFill>
                  <a:srgbClr val="444444"/>
                </a:solidFill>
              </a:defRPr>
            </a:pPr>
            <a:r>
              <a:rPr kumimoji="0" sz="1100" b="0" i="1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Key: UC Functions = SQL-based tools → Auditable, Governed, Testable, </a:t>
            </a:r>
            <a:r>
              <a:rPr kumimoji="0" sz="1100" b="0" i="1" u="none" strike="noStrike" kern="1200" cap="none" spc="0" normalizeH="0" baseline="0" noProof="0" dirty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Versionable</a:t>
            </a:r>
            <a:endParaRPr kumimoji="0" sz="1100" b="0" i="1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9587989-4BC9-2FEB-0845-93FD8C634DE9}"/>
              </a:ext>
            </a:extLst>
          </p:cNvPr>
          <p:cNvSpPr/>
          <p:nvPr/>
        </p:nvSpPr>
        <p:spPr>
          <a:xfrm>
            <a:off x="609600" y="1005840"/>
            <a:ext cx="7924800" cy="0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54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D94D3-98DF-5215-B000-6E9F51AAE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7E1EBB-3EF7-B435-F079-0A1336BDD349}"/>
              </a:ext>
            </a:extLst>
          </p:cNvPr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Multi-BU Agent Deployment - Concrete Use Cases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588AAD-1F5E-62FD-C9DB-AD147FCFC84E}"/>
              </a:ext>
            </a:extLst>
          </p:cNvPr>
          <p:cNvSpPr txBox="1"/>
          <p:nvPr/>
        </p:nvSpPr>
        <p:spPr>
          <a:xfrm>
            <a:off x="457200" y="118872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8D4"/>
                </a:solidFill>
              </a:defRPr>
            </a:pPr>
            <a:r>
              <a:t>Member Services Agent</a:t>
            </a:r>
          </a:p>
          <a:p>
            <a:pPr lvl="1">
              <a:spcAft>
                <a:spcPts val="400"/>
              </a:spcAft>
              <a:defRPr sz="1000"/>
            </a:pPr>
            <a:r>
              <a:t>Use cases: Live call assist, email automation, member portal chatbot</a:t>
            </a:r>
          </a:p>
          <a:p>
            <a:pPr lvl="1">
              <a:spcAft>
                <a:spcPts val="400"/>
              </a:spcAft>
              <a:defRPr sz="900" i="1"/>
            </a:pPr>
            <a:r>
              <a:t>Tools: get_member_360, search_knowledge_base, check_compliance</a:t>
            </a:r>
          </a:p>
          <a:p>
            <a:pPr lvl="1">
              <a:spcAft>
                <a:spcPts val="1200"/>
              </a:spcAft>
              <a:defRPr sz="1000">
                <a:solidFill>
                  <a:srgbClr val="008000"/>
                </a:solidFill>
              </a:defRPr>
            </a:pPr>
            <a:r>
              <a:t>Outcome: 25% faster resolution, 24/7 availability</a:t>
            </a:r>
          </a:p>
          <a:p>
            <a:pPr>
              <a:spcBef>
                <a:spcPts val="800"/>
              </a:spcBef>
              <a:defRPr sz="1400" b="1">
                <a:solidFill>
                  <a:srgbClr val="0078D4"/>
                </a:solidFill>
              </a:defRPr>
            </a:pPr>
            <a:r>
              <a:t>Investment Research Agent</a:t>
            </a:r>
          </a:p>
          <a:p>
            <a:pPr lvl="1">
              <a:spcAft>
                <a:spcPts val="400"/>
              </a:spcAft>
              <a:defRPr sz="1000"/>
            </a:pPr>
            <a:r>
              <a:t>Use cases: Market analysis, portfolio optimization, research reports</a:t>
            </a:r>
          </a:p>
          <a:p>
            <a:pPr lvl="1">
              <a:spcAft>
                <a:spcPts val="400"/>
              </a:spcAft>
              <a:defRPr sz="900" i="1"/>
            </a:pPr>
            <a:r>
              <a:t>Tools: get_fund_performance, get_market_data, run_portfolio_analysis</a:t>
            </a:r>
          </a:p>
          <a:p>
            <a:pPr lvl="1">
              <a:defRPr sz="1000">
                <a:solidFill>
                  <a:srgbClr val="008000"/>
                </a:solidFill>
              </a:defRPr>
            </a:pPr>
            <a:r>
              <a:t>Outcome: 40% faster research synthesis, compliance-aware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06ABC3-AAA7-1804-96C9-84681F90C4EC}"/>
              </a:ext>
            </a:extLst>
          </p:cNvPr>
          <p:cNvSpPr txBox="1"/>
          <p:nvPr/>
        </p:nvSpPr>
        <p:spPr>
          <a:xfrm>
            <a:off x="5029200" y="118872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8D4"/>
                </a:solidFill>
              </a:defRPr>
            </a:pPr>
            <a:r>
              <a:t>Compliance &amp; Risk Agent</a:t>
            </a:r>
          </a:p>
          <a:p>
            <a:pPr lvl="1">
              <a:spcAft>
                <a:spcPts val="400"/>
              </a:spcAft>
              <a:defRPr sz="1000"/>
            </a:pPr>
            <a:r>
              <a:t>Use cases: Automated audits, regulatory impact analysis, risk scoring</a:t>
            </a:r>
          </a:p>
          <a:p>
            <a:pPr lvl="1">
              <a:spcAft>
                <a:spcPts val="400"/>
              </a:spcAft>
              <a:defRPr sz="900" i="1"/>
            </a:pPr>
            <a:r>
              <a:t>Tools: check_compliance, get_regulatory_requirements, trigger_workflow</a:t>
            </a:r>
          </a:p>
          <a:p>
            <a:pPr lvl="1">
              <a:spcAft>
                <a:spcPts val="1200"/>
              </a:spcAft>
              <a:defRPr sz="1000">
                <a:solidFill>
                  <a:srgbClr val="008000"/>
                </a:solidFill>
              </a:defRPr>
            </a:pPr>
            <a:r>
              <a:t>Outcome: 100% audit coverage, proactive risk identification</a:t>
            </a:r>
          </a:p>
          <a:p>
            <a:pPr>
              <a:spcBef>
                <a:spcPts val="800"/>
              </a:spcBef>
              <a:defRPr sz="1400" b="1">
                <a:solidFill>
                  <a:srgbClr val="0078D4"/>
                </a:solidFill>
              </a:defRPr>
            </a:pPr>
            <a:r>
              <a:t>HR Agent</a:t>
            </a:r>
          </a:p>
          <a:p>
            <a:pPr lvl="1">
              <a:spcAft>
                <a:spcPts val="400"/>
              </a:spcAft>
              <a:defRPr sz="1000"/>
            </a:pPr>
            <a:r>
              <a:t>Use cases: Employee onboarding, policy Q&amp;A, learning recommendations</a:t>
            </a:r>
          </a:p>
          <a:p>
            <a:pPr lvl="1">
              <a:spcAft>
                <a:spcPts val="400"/>
              </a:spcAft>
              <a:defRPr sz="900" i="1"/>
            </a:pPr>
            <a:r>
              <a:t>Tools: search_knowledge_base, get_employee_profile, trigger_workflow</a:t>
            </a:r>
          </a:p>
          <a:p>
            <a:pPr lvl="1">
              <a:defRPr sz="1000">
                <a:solidFill>
                  <a:srgbClr val="008000"/>
                </a:solidFill>
              </a:defRPr>
            </a:pPr>
            <a:r>
              <a:t>Outcome: 60% reduction in HR inquiries, faster onboarding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A5D3D1-418A-2D86-2B8E-659F7331412B}"/>
              </a:ext>
            </a:extLst>
          </p:cNvPr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00000"/>
                </a:solidFill>
              </a:defRPr>
            </a:pPr>
            <a:r>
              <a:t>Critical: All agents share the same core infrastructure. Each additional agent takes 3-4 weeks, not 6-12 months.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766B3E6A-1979-2410-C208-F3FE69527739}"/>
              </a:ext>
            </a:extLst>
          </p:cNvPr>
          <p:cNvSpPr/>
          <p:nvPr/>
        </p:nvSpPr>
        <p:spPr>
          <a:xfrm>
            <a:off x="527825" y="1005840"/>
            <a:ext cx="7924800" cy="0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906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4313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Platform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14400"/>
            <a:ext cx="7924800" cy="594271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23888" y="914400"/>
            <a:ext cx="0" cy="594271"/>
          </a:xfrm>
          <a:prstGeom prst="line">
            <a:avLst/>
          </a:prstGeom>
          <a:noFill/>
          <a:ln w="28575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1525" y="1047750"/>
            <a:ext cx="77821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771525" y="1228725"/>
            <a:ext cx="77821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| Dashboards | APIs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609600" y="1565821"/>
            <a:ext cx="7924800" cy="594271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3888" y="1565821"/>
            <a:ext cx="0" cy="594271"/>
          </a:xfrm>
          <a:prstGeom prst="line">
            <a:avLst/>
          </a:prstGeom>
          <a:noFill/>
          <a:ln w="28575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1525" y="1699171"/>
            <a:ext cx="77821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LAYER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71525" y="1880146"/>
            <a:ext cx="77821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Framework | Vector Search | Model Serving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609600" y="2217241"/>
            <a:ext cx="7924800" cy="594271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3888" y="2217241"/>
            <a:ext cx="0" cy="594271"/>
          </a:xfrm>
          <a:prstGeom prst="line">
            <a:avLst/>
          </a:prstGeom>
          <a:noFill/>
          <a:ln w="28575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1525" y="2350591"/>
            <a:ext cx="77821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(Unity Catalog)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771525" y="2531566"/>
            <a:ext cx="77821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| Lineage | Audit Logs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09600" y="2868662"/>
            <a:ext cx="7924800" cy="594271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3888" y="2868662"/>
            <a:ext cx="0" cy="594271"/>
          </a:xfrm>
          <a:prstGeom prst="line">
            <a:avLst/>
          </a:prstGeom>
          <a:noFill/>
          <a:ln w="28575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1525" y="3002012"/>
            <a:ext cx="77821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771525" y="3182987"/>
            <a:ext cx="77821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DLT | Structured Streaming | Batch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09600" y="3520083"/>
            <a:ext cx="7924800" cy="594271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23888" y="3520083"/>
            <a:ext cx="0" cy="594271"/>
          </a:xfrm>
          <a:prstGeom prst="line">
            <a:avLst/>
          </a:prstGeom>
          <a:noFill/>
          <a:ln w="28575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1525" y="3653433"/>
            <a:ext cx="77821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771525" y="3834408"/>
            <a:ext cx="77821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 | Online Tables | Vector Indexes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09600" y="4171504"/>
            <a:ext cx="7924800" cy="594271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23888" y="4171504"/>
            <a:ext cx="0" cy="594271"/>
          </a:xfrm>
          <a:prstGeom prst="line">
            <a:avLst/>
          </a:prstGeom>
          <a:noFill/>
          <a:ln w="28575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1525" y="4304854"/>
            <a:ext cx="77821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771525" y="4485829"/>
            <a:ext cx="77821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Zerobus | Lakeflow Connect | Auto Loader</a:t>
            </a:r>
            <a:endParaRPr lang="en-US" sz="825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E8E5C05A-A0F4-A835-ECEA-03DD9D7264E8}"/>
              </a:ext>
            </a:extLst>
          </p:cNvPr>
          <p:cNvSpPr/>
          <p:nvPr/>
        </p:nvSpPr>
        <p:spPr>
          <a:xfrm>
            <a:off x="609600" y="819987"/>
            <a:ext cx="7924800" cy="0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Catalog Governance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876300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8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control enabling your strategy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318171"/>
            <a:ext cx="7924800" cy="77509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1050" y="1489621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1050" y="1748582"/>
            <a:ext cx="77335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permissions (row/column level). Investment sees investment data only. Enforced automatically.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09600" y="2207568"/>
            <a:ext cx="7924800" cy="77509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1050" y="2379018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1050" y="2637979"/>
            <a:ext cx="77335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data access logged. Every AI inference tracked. Complete trail for regulatory reporting.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09600" y="3096964"/>
            <a:ext cx="7924800" cy="77509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1050" y="3268414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Lineage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1050" y="3527375"/>
            <a:ext cx="77335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source to consumption. Critical for impact analysis and compliance.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9600" y="3986361"/>
            <a:ext cx="7924800" cy="77509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1050" y="4157811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Attribution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1050" y="4416772"/>
            <a:ext cx="77335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usage by BU. Chargeback model for shared infrastructure.</a:t>
            </a:r>
            <a:endParaRPr lang="en-US" sz="975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9E48D101-2D11-DF00-4B65-14CC3C6FB736}"/>
              </a:ext>
            </a:extLst>
          </p:cNvPr>
          <p:cNvSpPr/>
          <p:nvPr/>
        </p:nvSpPr>
        <p:spPr>
          <a:xfrm>
            <a:off x="609600" y="876300"/>
            <a:ext cx="7924800" cy="0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42165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Ingestion Options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14400"/>
            <a:ext cx="7924800" cy="1497211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1050" y="1085850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Azure Event Hubs </a:t>
            </a: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1050" y="1363861"/>
            <a:ext cx="7581900" cy="8763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10-30 sec latency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at enterprise scale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~$20K/year infrastructure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544961"/>
            <a:ext cx="7924800" cy="1497211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1050" y="2716411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 Zerobus Direct </a:t>
            </a: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1050" y="2994422"/>
            <a:ext cx="7581900" cy="8763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sec latency (6x faster)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infrastructure cost</a:t>
            </a:r>
            <a:endParaRPr lang="en-US" sz="135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expected 2026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9600" y="4232672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0"/>
              </a:spcBef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 with Event Hubs, evaluate Zerobus in parallel, migrate once GA</a:t>
            </a:r>
            <a:endParaRPr lang="en-US" sz="9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5B7B6C76-EFF9-6EF5-AD32-BDA446459ACA}"/>
              </a:ext>
            </a:extLst>
          </p:cNvPr>
          <p:cNvSpPr/>
          <p:nvPr/>
        </p:nvSpPr>
        <p:spPr>
          <a:xfrm>
            <a:off x="589788" y="819986"/>
            <a:ext cx="7924800" cy="0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7924800" cy="77509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28650" y="1028700"/>
            <a:ext cx="0" cy="775097"/>
          </a:xfrm>
          <a:prstGeom prst="line">
            <a:avLst/>
          </a:prstGeom>
          <a:noFill/>
          <a:ln w="38100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9150" y="1200150"/>
            <a:ext cx="76946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Platform Foundation (Months 1-3)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9150" y="1459111"/>
            <a:ext cx="7694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Catalog structure. Delta Lake foundation. Vector Search. Initial governance.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09600" y="1918097"/>
            <a:ext cx="7924800" cy="77509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8650" y="1918097"/>
            <a:ext cx="0" cy="775097"/>
          </a:xfrm>
          <a:prstGeom prst="line">
            <a:avLst/>
          </a:prstGeom>
          <a:noFill/>
          <a:ln w="38100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9150" y="2089547"/>
            <a:ext cx="76946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Call Center Deployment (Months 3-6)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9150" y="2348508"/>
            <a:ext cx="7694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agent assist, compliance monitoring, automation. 200+ agents. Validate at scale. $2-4M value.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09600" y="2807494"/>
            <a:ext cx="7924800" cy="77509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8650" y="2807494"/>
            <a:ext cx="0" cy="775097"/>
          </a:xfrm>
          <a:prstGeom prst="line">
            <a:avLst/>
          </a:prstGeom>
          <a:noFill/>
          <a:ln w="38100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9150" y="2978944"/>
            <a:ext cx="76946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Enterprise Knowledge Agent (Months 6-9)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9150" y="3237905"/>
            <a:ext cx="7694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Investment, Compliance, HR agents. Multi-BU model validated. 70% infrastructure reuse.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9600" y="3696891"/>
            <a:ext cx="7924800" cy="77509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8650" y="3696891"/>
            <a:ext cx="0" cy="775097"/>
          </a:xfrm>
          <a:prstGeom prst="line">
            <a:avLst/>
          </a:prstGeom>
          <a:noFill/>
          <a:ln w="38100">
            <a:solidFill>
              <a:srgbClr val="00A4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9150" y="3868341"/>
            <a:ext cx="76946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A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Scale &amp; Optimize (Months 10-12)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9150" y="4127302"/>
            <a:ext cx="7694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enterprise coverage. Advanced analytics. Self-service capabilities. $10M+ annual value.</a:t>
            </a:r>
            <a:endParaRPr lang="en-US" sz="975" dirty="0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40DD692E-2F93-84A2-471A-5589BF507979}"/>
              </a:ext>
            </a:extLst>
          </p:cNvPr>
          <p:cNvSpPr/>
          <p:nvPr/>
        </p:nvSpPr>
        <p:spPr>
          <a:xfrm>
            <a:off x="589026" y="901762"/>
            <a:ext cx="7924800" cy="0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40513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914400"/>
            <a:ext cx="7924800" cy="76185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28650" y="914400"/>
            <a:ext cx="0" cy="761851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9150" y="1085850"/>
            <a:ext cx="76946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1-2: Discovery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9150" y="1344811"/>
            <a:ext cx="76946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Genesys integration. Architecture design. Data access. Governance.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9600" y="1790551"/>
            <a:ext cx="7924800" cy="76185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8650" y="1790551"/>
            <a:ext cx="0" cy="761851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9150" y="1962001"/>
            <a:ext cx="76946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3-4: POV Environment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9150" y="2220962"/>
            <a:ext cx="76946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workspace. Configure ingestion. Set up Unity Catalog.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600" y="2666702"/>
            <a:ext cx="7924800" cy="76185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8650" y="2666702"/>
            <a:ext cx="0" cy="761851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9150" y="2838152"/>
            <a:ext cx="76946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5-8: Build Pilot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9150" y="3097113"/>
            <a:ext cx="76946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pipeline. Build Agent Framework. Train 10 pilots.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9600" y="3542854"/>
            <a:ext cx="7924800" cy="76185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8650" y="3542854"/>
            <a:ext cx="0" cy="761851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9150" y="3714304"/>
            <a:ext cx="76946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9-10: Measure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9150" y="3973264"/>
            <a:ext cx="76946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results. Calculate ROI. Plan production.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FBD06-15A0-4C05-D1A8-12CA2838A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CDF4159-C491-933D-0616-83E2AA9B3301}"/>
              </a:ext>
            </a:extLst>
          </p:cNvPr>
          <p:cNvSpPr/>
          <p:nvPr/>
        </p:nvSpPr>
        <p:spPr>
          <a:xfrm>
            <a:off x="1514048" y="1710928"/>
            <a:ext cx="61157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Retirement Trust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4ECE59-1F54-88CF-2704-375728247285}"/>
              </a:ext>
            </a:extLst>
          </p:cNvPr>
          <p:cNvSpPr/>
          <p:nvPr/>
        </p:nvSpPr>
        <p:spPr>
          <a:xfrm>
            <a:off x="2057205" y="2396728"/>
            <a:ext cx="5029441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67"/>
              </a:lnSpc>
              <a:buNone/>
            </a:pPr>
            <a:r>
              <a:rPr lang="en-US" sz="240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ADA9D9-11B3-23CE-BCC6-3DA066218A64}"/>
              </a:ext>
            </a:extLst>
          </p:cNvPr>
          <p:cNvSpPr/>
          <p:nvPr/>
        </p:nvSpPr>
        <p:spPr>
          <a:xfrm>
            <a:off x="2752621" y="3192512"/>
            <a:ext cx="36387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6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Technical Architecture Point of View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47759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The Economics of Platform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00000"/>
                </a:solidFill>
              </a:defRPr>
            </a:pPr>
            <a:r>
              <a:t>Traditional Approach (Point Solutions):</a:t>
            </a:r>
          </a:p>
          <a:p>
            <a:pPr lvl="1">
              <a:spcAft>
                <a:spcPts val="400"/>
              </a:spcAft>
              <a:defRPr sz="1100"/>
            </a:pPr>
            <a:r>
              <a:t>Member Services AI: 12 months, $2M, separate infrastructure</a:t>
            </a:r>
          </a:p>
          <a:p>
            <a:pPr lvl="1">
              <a:spcAft>
                <a:spcPts val="400"/>
              </a:spcAft>
              <a:defRPr sz="1100"/>
            </a:pPr>
            <a:r>
              <a:t>Investments AI: 12 months, $2M, separate infrastructure</a:t>
            </a:r>
          </a:p>
          <a:p>
            <a:pPr lvl="1">
              <a:spcAft>
                <a:spcPts val="400"/>
              </a:spcAft>
              <a:defRPr sz="1100"/>
            </a:pPr>
            <a:r>
              <a:t>Compliance AI: 12 months, $2M, separate infrastructure</a:t>
            </a:r>
          </a:p>
          <a:p>
            <a:pPr lvl="1">
              <a:spcAft>
                <a:spcPts val="400"/>
              </a:spcAft>
              <a:defRPr sz="1100"/>
            </a:pPr>
            <a:r>
              <a:t>HR AI: 12 months, $2M, separate infrastructure</a:t>
            </a:r>
          </a:p>
          <a:p>
            <a:pPr lvl="1">
              <a:spcAft>
                <a:spcPts val="400"/>
              </a:spcAft>
              <a:defRPr sz="1100" b="1"/>
            </a:pPr>
            <a:r>
              <a:t>Total: 48 months (sequential), $8M, 4 separate systems to maintain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600" b="1">
                <a:solidFill>
                  <a:srgbClr val="008000"/>
                </a:solidFill>
              </a:defRPr>
            </a:pPr>
            <a:r>
              <a:t>Platform Approach:</a:t>
            </a:r>
          </a:p>
          <a:p>
            <a:pPr lvl="1">
              <a:spcAft>
                <a:spcPts val="400"/>
              </a:spcAft>
              <a:defRPr sz="1100"/>
            </a:pPr>
            <a:r>
              <a:t>Foundation build: 3 months, $600K</a:t>
            </a:r>
          </a:p>
          <a:p>
            <a:pPr lvl="1">
              <a:spcAft>
                <a:spcPts val="400"/>
              </a:spcAft>
              <a:defRPr sz="1100"/>
            </a:pPr>
            <a:r>
              <a:t>Member Services agent: 3 months, $500K (includes foundation)</a:t>
            </a:r>
          </a:p>
          <a:p>
            <a:pPr lvl="1">
              <a:spcAft>
                <a:spcPts val="400"/>
              </a:spcAft>
              <a:defRPr sz="1100"/>
            </a:pPr>
            <a:r>
              <a:t>Investment agent: 4 weeks, $100K (reuses 70%)</a:t>
            </a:r>
          </a:p>
          <a:p>
            <a:pPr lvl="1">
              <a:spcAft>
                <a:spcPts val="400"/>
              </a:spcAft>
              <a:defRPr sz="1100"/>
            </a:pPr>
            <a:r>
              <a:t>Compliance agent: 4 weeks, $100K (reuses 70%)</a:t>
            </a:r>
          </a:p>
          <a:p>
            <a:pPr lvl="1">
              <a:spcAft>
                <a:spcPts val="400"/>
              </a:spcAft>
              <a:defRPr sz="1100"/>
            </a:pPr>
            <a:r>
              <a:t>HR agent: 4 weeks, $100K (reuses 70%)</a:t>
            </a:r>
          </a:p>
          <a:p>
            <a:pPr lvl="1">
              <a:spcAft>
                <a:spcPts val="400"/>
              </a:spcAft>
              <a:defRPr sz="1100" b="1"/>
            </a:pPr>
            <a:r>
              <a:t>Total: 9 months (some parallel), $1.4M, one unified system</a:t>
            </a:r>
          </a:p>
          <a:p>
            <a:pPr algn="ctr">
              <a:spcBef>
                <a:spcPts val="1600"/>
              </a:spcBef>
              <a:defRPr sz="1400" b="1">
                <a:solidFill>
                  <a:srgbClr val="008000"/>
                </a:solidFill>
              </a:defRPr>
            </a:pPr>
            <a:r>
              <a:t>Savings: $6.6M (82%) and 75% faster time-to-value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65AAFE9-EF28-3EC7-3C2F-DE1A9253C325}"/>
              </a:ext>
            </a:extLst>
          </p:cNvPr>
          <p:cNvSpPr/>
          <p:nvPr/>
        </p:nvSpPr>
        <p:spPr>
          <a:xfrm>
            <a:off x="589788" y="819986"/>
            <a:ext cx="7924800" cy="0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43233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24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&amp; Investment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1461939"/>
            <a:ext cx="39056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(3 Years)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949500"/>
            <a:ext cx="3829050" cy="35049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4850" y="2044750"/>
            <a:ext cx="738985" cy="159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1:</a:t>
            </a: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$1.6M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" y="2566690"/>
            <a:ext cx="3829050" cy="35049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850" y="2661940"/>
            <a:ext cx="10501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2-3:</a:t>
            </a: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$400K/yr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3183880"/>
            <a:ext cx="3829050" cy="35049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04850" y="3279130"/>
            <a:ext cx="6652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</a:t>
            </a: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$2.4M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05350" y="838200"/>
            <a:ext cx="39056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(Annual)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5350" y="1325761"/>
            <a:ext cx="3829050" cy="35049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00600" y="1421011"/>
            <a:ext cx="11986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Services: $4M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5350" y="1942951"/>
            <a:ext cx="3829050" cy="35049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00600" y="2038201"/>
            <a:ext cx="9202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Investments: $3M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5350" y="2560141"/>
            <a:ext cx="3829050" cy="35049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0600" y="2655391"/>
            <a:ext cx="9071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$2M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5350" y="3177332"/>
            <a:ext cx="3829050" cy="35049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00600" y="3272582"/>
            <a:ext cx="90399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+ HR: $2.5M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5350" y="3794522"/>
            <a:ext cx="3829050" cy="363736"/>
          </a:xfrm>
          <a:prstGeom prst="rect">
            <a:avLst/>
          </a:prstGeom>
          <a:solidFill>
            <a:srgbClr val="FF362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00600" y="3889772"/>
            <a:ext cx="93830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$11.5M/yr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0352" y="4405908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1500"/>
              </a:spcBef>
              <a:buNone/>
            </a:pPr>
            <a:r>
              <a:rPr lang="en-US" sz="135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1,150% | Payback: 2.5 months</a:t>
            </a:r>
            <a:endParaRPr lang="en-US" sz="1350" dirty="0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D7FED95D-D1E9-FCD5-58FC-258BD980C203}"/>
              </a:ext>
            </a:extLst>
          </p:cNvPr>
          <p:cNvSpPr/>
          <p:nvPr/>
        </p:nvSpPr>
        <p:spPr>
          <a:xfrm>
            <a:off x="589788" y="819986"/>
            <a:ext cx="7924800" cy="0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Platform Benefits - Beyond Initial Savings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78D4"/>
                </a:solidFill>
              </a:defRPr>
            </a:pPr>
            <a:r>
              <a:t>Operational Benefits:</a:t>
            </a:r>
          </a:p>
          <a:p>
            <a:pPr lvl="1">
              <a:spcAft>
                <a:spcPts val="600"/>
              </a:spcAft>
              <a:defRPr sz="1100"/>
            </a:pPr>
            <a:r>
              <a:t>Single platform team vs 4 separate teams</a:t>
            </a:r>
          </a:p>
          <a:p>
            <a:pPr lvl="1">
              <a:spcAft>
                <a:spcPts val="600"/>
              </a:spcAft>
              <a:defRPr sz="1100"/>
            </a:pPr>
            <a:r>
              <a:t>Shared monitoring and alerting</a:t>
            </a:r>
          </a:p>
          <a:p>
            <a:pPr lvl="1">
              <a:spcAft>
                <a:spcPts val="600"/>
              </a:spcAft>
              <a:defRPr sz="1100"/>
            </a:pPr>
            <a:r>
              <a:t>One governance model to audit</a:t>
            </a:r>
          </a:p>
          <a:p>
            <a:pPr lvl="1">
              <a:spcAft>
                <a:spcPts val="600"/>
              </a:spcAft>
              <a:defRPr sz="1100"/>
            </a:pPr>
            <a:r>
              <a:t>Centralized cost management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400" b="1">
                <a:solidFill>
                  <a:srgbClr val="0078D4"/>
                </a:solidFill>
              </a:defRPr>
            </a:pPr>
            <a:r>
              <a:t>Innovation Benefits:</a:t>
            </a:r>
          </a:p>
          <a:p>
            <a:pPr lvl="1">
              <a:spcAft>
                <a:spcPts val="600"/>
              </a:spcAft>
              <a:defRPr sz="1100"/>
            </a:pPr>
            <a:r>
              <a:t>New use case? Pick relevant tools from library</a:t>
            </a:r>
          </a:p>
          <a:p>
            <a:pPr lvl="1">
              <a:spcAft>
                <a:spcPts val="600"/>
              </a:spcAft>
              <a:defRPr sz="1100"/>
            </a:pPr>
            <a:r>
              <a:t>Cross-agent workflows possible</a:t>
            </a:r>
          </a:p>
          <a:p>
            <a:pPr lvl="1">
              <a:spcAft>
                <a:spcPts val="600"/>
              </a:spcAft>
              <a:defRPr sz="1100"/>
            </a:pPr>
            <a:r>
              <a:t>Learnings from one BU benefit all others</a:t>
            </a:r>
          </a:p>
          <a:p>
            <a:pPr lvl="1">
              <a:spcAft>
                <a:spcPts val="600"/>
              </a:spcAft>
              <a:defRPr sz="1100"/>
            </a:pPr>
            <a:r>
              <a:t>Platform improves continuously for everyone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78D4"/>
                </a:solidFill>
              </a:defRPr>
            </a:pPr>
            <a:r>
              <a:t>Risk Mitigation:</a:t>
            </a:r>
          </a:p>
          <a:p>
            <a:pPr lvl="1">
              <a:spcAft>
                <a:spcPts val="600"/>
              </a:spcAft>
              <a:defRPr sz="1100"/>
            </a:pPr>
            <a:r>
              <a:t>Consistent security model</a:t>
            </a:r>
          </a:p>
          <a:p>
            <a:pPr lvl="1">
              <a:spcAft>
                <a:spcPts val="600"/>
              </a:spcAft>
              <a:defRPr sz="1100"/>
            </a:pPr>
            <a:r>
              <a:t>No shadow AI deployments</a:t>
            </a:r>
          </a:p>
          <a:p>
            <a:pPr lvl="1">
              <a:spcAft>
                <a:spcPts val="600"/>
              </a:spcAft>
              <a:defRPr sz="1100"/>
            </a:pPr>
            <a:r>
              <a:t>Complete audit trail across all BUs</a:t>
            </a:r>
          </a:p>
          <a:p>
            <a:pPr lvl="1">
              <a:spcAft>
                <a:spcPts val="600"/>
              </a:spcAft>
              <a:defRPr sz="1100"/>
            </a:pPr>
            <a:r>
              <a:t>Regulatory confidence (single point of compliance)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400" b="1">
                <a:solidFill>
                  <a:srgbClr val="0078D4"/>
                </a:solidFill>
              </a:defRPr>
            </a:pPr>
            <a:r>
              <a:t>Strategic Advantage:</a:t>
            </a:r>
          </a:p>
          <a:p>
            <a:pPr lvl="1">
              <a:spcAft>
                <a:spcPts val="600"/>
              </a:spcAft>
              <a:defRPr sz="1100"/>
            </a:pPr>
            <a:r>
              <a:t>Most super funds build isolated solutions per BU</a:t>
            </a:r>
          </a:p>
          <a:p>
            <a:pPr lvl="1">
              <a:spcAft>
                <a:spcPts val="600"/>
              </a:spcAft>
              <a:defRPr sz="1100"/>
            </a:pPr>
            <a:r>
              <a:t>ART will have unified intelligence across entire organization</a:t>
            </a:r>
          </a:p>
          <a:p>
            <a:pPr lvl="1">
              <a:spcAft>
                <a:spcPts val="600"/>
              </a:spcAft>
              <a:defRPr sz="1100"/>
            </a:pPr>
            <a:r>
              <a:t>Faster response to market changes</a:t>
            </a:r>
          </a:p>
          <a:p>
            <a:pPr lvl="1">
              <a:spcAft>
                <a:spcPts val="600"/>
              </a:spcAft>
              <a:defRPr sz="1100"/>
            </a:pPr>
            <a:r>
              <a:t>Better member experience through coordinated touchpoints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55FB6F1-6D2F-5146-8668-476D8091430F}"/>
              </a:ext>
            </a:extLst>
          </p:cNvPr>
          <p:cNvSpPr/>
          <p:nvPr/>
        </p:nvSpPr>
        <p:spPr>
          <a:xfrm>
            <a:off x="609600" y="894327"/>
            <a:ext cx="7924800" cy="0"/>
          </a:xfrm>
          <a:prstGeom prst="line">
            <a:avLst/>
          </a:prstGeom>
          <a:noFill/>
          <a:ln w="381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1295</Words>
  <Application>Microsoft Macintosh PowerPoint</Application>
  <PresentationFormat>On-screen Show (16:9)</PresentationFormat>
  <Paragraphs>177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 Enterprise AI Strategy</dc:title>
  <dc:subject>Technical Architecture Point of View</dc:subject>
  <dc:creator>Databricks Solutions Architecture</dc:creator>
  <cp:lastModifiedBy>Pravin Varma</cp:lastModifiedBy>
  <cp:revision>3</cp:revision>
  <dcterms:created xsi:type="dcterms:W3CDTF">2025-11-10T02:42:10Z</dcterms:created>
  <dcterms:modified xsi:type="dcterms:W3CDTF">2025-11-10T04:33:31Z</dcterms:modified>
</cp:coreProperties>
</file>